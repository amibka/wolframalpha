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6210000"/>
            <a:ext cx="11155320" cy="45360"/>
          </a:xfrm>
          <a:custGeom>
            <a:avLst/>
            <a:gdLst>
              <a:gd name="textAreaLeft" fmla="*/ 0 w 11155320"/>
              <a:gd name="textAreaRight" fmla="*/ 11155680 w 11155320"/>
              <a:gd name="textAreaTop" fmla="*/ 0 h 45360"/>
              <a:gd name="textAreaBottom" fmla="*/ 45720 h 45360"/>
              <a:gd name="GluePoint1X" fmla="*/ 0 w 8715708"/>
              <a:gd name="GluePoint1Y" fmla="*/ 0 h 45719"/>
              <a:gd name="GluePoint2X" fmla="*/ 3694525 w 8715708"/>
              <a:gd name="GluePoint2Y" fmla="*/ 0 h 45719"/>
              <a:gd name="GluePoint3X" fmla="*/ 5021183 w 8715708"/>
              <a:gd name="GluePoint3Y" fmla="*/ 0 h 45719"/>
              <a:gd name="GluePoint4X" fmla="*/ 8715708 w 8715708"/>
              <a:gd name="GluePoint4Y" fmla="*/ 0 h 45719"/>
              <a:gd name="GluePoint5X" fmla="*/ 8715708 w 8715708"/>
              <a:gd name="GluePoint5Y" fmla="*/ 45719 h 45719"/>
              <a:gd name="GluePoint6X" fmla="*/ 5021183 w 8715708"/>
              <a:gd name="GluePoint6Y" fmla="*/ 45719 h 45719"/>
              <a:gd name="GluePoint7X" fmla="*/ 3694525 w 8715708"/>
              <a:gd name="GluePoint7Y" fmla="*/ 45719 h 45719"/>
              <a:gd name="GluePoint8X" fmla="*/ 0 w 8715708"/>
              <a:gd name="GluePoint8Y" fmla="*/ 45719 h 457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5320" cy="342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7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7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FB0990-EBE3-4F05-AD53-27C2DCE6F9BD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Второй уровень структуры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532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21280" y="2578680"/>
            <a:ext cx="11155320" cy="37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DD71A8-DFC8-4C6F-BA57-E2940A2BE3C8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6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659440" y="978480"/>
            <a:ext cx="2550960" cy="536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21280" y="978480"/>
            <a:ext cx="8009640" cy="536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691642-55FF-49B0-AD82-16C98A819BB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Rectangle 6"/>
          <p:cNvSpPr/>
          <p:nvPr/>
        </p:nvSpPr>
        <p:spPr>
          <a:xfrm rot="5400000">
            <a:off x="8936640" y="3584880"/>
            <a:ext cx="532548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532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21280" y="2578680"/>
            <a:ext cx="11155320" cy="37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8BA93D-2632-4DCC-809A-C39B4FF48E70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6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5019840" cy="428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5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5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21280" y="5266800"/>
            <a:ext cx="5019840" cy="108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2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E434B0-477A-4AA0-911F-9279E36E5D79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532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21280" y="2578680"/>
            <a:ext cx="5166000" cy="37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519600" y="2578680"/>
            <a:ext cx="5166000" cy="37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6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7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8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CD465-A7AD-4579-8F5F-41337F495927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64320" cy="121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21280" y="2340720"/>
            <a:ext cx="5166000" cy="65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2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521280" y="3035880"/>
            <a:ext cx="5166000" cy="33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519600" y="2340720"/>
            <a:ext cx="5166000" cy="65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2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519600" y="3035880"/>
            <a:ext cx="5166000" cy="33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9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0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 idx="21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D214C2-2A5D-4FAC-8E01-794C73566696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532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CDE70E-E950-4147-83A2-654F0E5605B9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: Shape 6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dt" idx="25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26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27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F11CFF-6AED-48DC-812E-3A27945E208F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5019840" cy="245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519600" y="987480"/>
            <a:ext cx="5166000" cy="53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21280" y="3575160"/>
            <a:ext cx="5019840" cy="277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2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8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9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0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EBF835-9B8C-40F3-82EF-25CD68928C05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5019840" cy="245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519600" y="987480"/>
            <a:ext cx="5166000" cy="535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21280" y="3575160"/>
            <a:ext cx="5019840" cy="277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b="0" lang="ru-RU" sz="22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1"/>
          </p:nvPr>
        </p:nvSpPr>
        <p:spPr>
          <a:xfrm>
            <a:off x="521280" y="64191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&lt;дата/время&gt;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2"/>
          </p:nvPr>
        </p:nvSpPr>
        <p:spPr>
          <a:xfrm>
            <a:off x="521280" y="1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3"/>
          </p:nvPr>
        </p:nvSpPr>
        <p:spPr>
          <a:xfrm>
            <a:off x="11457360" y="6419160"/>
            <a:ext cx="639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0B1589-6111-42C4-89A2-A0A7A8A5DDEC}" type="slidenum">
              <a:rPr b="0" lang="en-US" sz="9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&lt;номер&gt;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493800" y="978480"/>
            <a:ext cx="8179920" cy="329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ru-RU" sz="66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Mathly</a:t>
            </a:r>
            <a:endParaRPr b="0" lang="ru-RU" sz="6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3493080" y="4469760"/>
            <a:ext cx="8092440" cy="137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ru-RU" sz="22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Автор  проекта: Литвинов Михаил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1280" y="507960"/>
            <a:ext cx="807480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8" name="Freeform: 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1280" y="6210000"/>
            <a:ext cx="8101440" cy="45360"/>
          </a:xfrm>
          <a:custGeom>
            <a:avLst/>
            <a:gdLst>
              <a:gd name="textAreaLeft" fmla="*/ 0 w 8101440"/>
              <a:gd name="textAreaRight" fmla="*/ 8101800 w 8101440"/>
              <a:gd name="textAreaTop" fmla="*/ 0 h 45360"/>
              <a:gd name="textAreaBottom" fmla="*/ 45720 h 45360"/>
              <a:gd name="GluePoint1X" fmla="*/ 0 w 8715708"/>
              <a:gd name="GluePoint1Y" fmla="*/ 0 h 45719"/>
              <a:gd name="GluePoint2X" fmla="*/ 3694525 w 8715708"/>
              <a:gd name="GluePoint2Y" fmla="*/ 0 h 45719"/>
              <a:gd name="GluePoint3X" fmla="*/ 5021183 w 8715708"/>
              <a:gd name="GluePoint3Y" fmla="*/ 0 h 45719"/>
              <a:gd name="GluePoint4X" fmla="*/ 8715708 w 8715708"/>
              <a:gd name="GluePoint4Y" fmla="*/ 0 h 45719"/>
              <a:gd name="GluePoint5X" fmla="*/ 8715708 w 8715708"/>
              <a:gd name="GluePoint5Y" fmla="*/ 45719 h 45719"/>
              <a:gd name="GluePoint6X" fmla="*/ 5021183 w 8715708"/>
              <a:gd name="GluePoint6Y" fmla="*/ 45719 h 45719"/>
              <a:gd name="GluePoint7X" fmla="*/ 3694525 w 8715708"/>
              <a:gd name="GluePoint7Y" fmla="*/ 45719 h 45719"/>
              <a:gd name="GluePoint8X" fmla="*/ 0 w 8715708"/>
              <a:gd name="GluePoint8Y" fmla="*/ 45719 h 457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873216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873216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Введение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21280" y="2578680"/>
            <a:ext cx="8732160" cy="37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7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Mathly</a:t>
            </a:r>
            <a:r>
              <a:rPr b="0" lang="ru-RU" sz="17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 - это интеллектуальный калькулятор, созданный для того, чтобы выполнять математические вычисления любого уровня сложности в удобной и понятной форме. Приложение способно распознавать команды, введённые обычным языком, и автоматически выполнять нужное действие: решать уравнения, упрощать выражения или вычислять интегралы.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7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Mathly объединяет простоту обычного калькулятора и мощь современных технологий обработки математических выражений. Он помогает пользователям быстро получать точные результаты без необходимости вручную вводить сложные команды.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7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Проект особенно полезен школьникам, студентам и всем, кто работает с математикой. Mathly делает вычисления лёгкими, понятными и современными - достаточно просто ввести выражение, и программа сама определит, что нужно сделать.</a:t>
            </a:r>
            <a:endParaRPr b="0" lang="ru-RU" sz="17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4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873216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873216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ru-RU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Функционал программы Mathly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521280" y="2578680"/>
            <a:ext cx="8732160" cy="37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 Решение уравнений и выражений любой сложности.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Раскладка и упрощение математических выражений.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Вычисление интегралов и пределов.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Распознавание естественных команд (например, «реши уравнение», «разложи выражение»).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Автоматический выбор нужной математической операции.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Удобный вывод результата в понятной форме.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Все вычисления выполняются с помощью встроенного парсера, который анализирует введённое выражение и передаёт его в соответствующий модуль. Например, для интегралов используется класс </a:t>
            </a: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Consolas"/>
                <a:ea typeface="Bierstadt"/>
              </a:rPr>
              <a:t>IntegralComputer</a:t>
            </a: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, для пределов - </a:t>
            </a: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Consolas"/>
                <a:ea typeface="Bierstadt"/>
              </a:rPr>
              <a:t>LimitComputer</a:t>
            </a: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, а маршрутизацией команд управляет </a:t>
            </a: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Consolas"/>
                <a:ea typeface="Bierstadt"/>
              </a:rPr>
              <a:t>CommandRouter</a:t>
            </a: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.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Программа создана на Python с использованием библиотеки </a:t>
            </a: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SymPy</a:t>
            </a: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, что обеспечивает точность и скорость вычислений. Интерфейс разработан так, чтобы пользователь мог просто ввести выражение - и сразу получить результат, без лишних действий.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873216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21280" y="507960"/>
            <a:ext cx="873216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ru-RU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Реализация проекта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21280" y="914400"/>
            <a:ext cx="8732160" cy="473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</a:pPr>
            <a:endParaRPr b="0" lang="ru-RU" sz="11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Интерфейс программы создан с помощью </a:t>
            </a:r>
            <a:r>
              <a:rPr b="1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PyQt6</a:t>
            </a: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, что позволило реализовать современный, удобный и полностью кодовый дизайн без использования Qt Designer.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Для выполнения математических вычислений используется библиотека </a:t>
            </a:r>
            <a:r>
              <a:rPr b="1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SymPy</a:t>
            </a: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, обеспечивающая точность и поддержку различных операций - от простых выражений до интегралов и пределов.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Хранение данных реализовано через встроенную </a:t>
            </a:r>
            <a:r>
              <a:rPr b="1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базу данных SQLite3</a:t>
            </a: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, что делает работу программы стабильной и автономной.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Основные библиотеки проекта: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onsolas"/>
                <a:ea typeface="Bierstadt"/>
              </a:rPr>
              <a:t>PyQt6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onsolas"/>
                <a:ea typeface="Bierstadt"/>
              </a:rPr>
              <a:t>SymPy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onsolas"/>
                <a:ea typeface="Bierstadt"/>
              </a:rPr>
              <a:t>Uvicorn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onsolas"/>
                <a:ea typeface="Bierstadt"/>
              </a:rPr>
              <a:t>SQLite3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lvl="1" marL="685800" indent="0" defTabSz="914400">
              <a:lnSpc>
                <a:spcPct val="100000"/>
              </a:lnSpc>
              <a:spcBef>
                <a:spcPts val="499"/>
              </a:spcBef>
              <a:buNone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onsolas"/>
                <a:ea typeface="Bierstadt"/>
              </a:rPr>
              <a:t> 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Архитектура построена модульно: отдельные классы отвечают за парсинг выражений, вычисления и взаимодействие с интерфейсом. Такой подход упрощает развитие и поддержку проекта.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reeform: Shape 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92" name="Freeform: Shap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6210000"/>
            <a:ext cx="11155320" cy="45360"/>
          </a:xfrm>
          <a:custGeom>
            <a:avLst/>
            <a:gdLst>
              <a:gd name="textAreaLeft" fmla="*/ 0 w 11155320"/>
              <a:gd name="textAreaRight" fmla="*/ 11155680 w 1115532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 useBgFill="1">
        <p:nvSpPr>
          <p:cNvPr id="93" name="Rectangle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21280" y="782640"/>
            <a:ext cx="7263360" cy="100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1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Пример решения логарифмического уравнения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5" name="Freeform: Shape 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pic>
        <p:nvPicPr>
          <p:cNvPr id="96" name="Объект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/>
          <p:cNvPicPr/>
          <p:nvPr/>
        </p:nvPicPr>
        <p:blipFill>
          <a:blip r:embed="rId1"/>
          <a:srcRect l="0" t="0" r="0" b="26997"/>
          <a:stretch/>
        </p:blipFill>
        <p:spPr>
          <a:xfrm>
            <a:off x="518040" y="2083320"/>
            <a:ext cx="11152800" cy="443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reeform: 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98" name="Freeform: 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6210000"/>
            <a:ext cx="11155320" cy="45360"/>
          </a:xfrm>
          <a:custGeom>
            <a:avLst/>
            <a:gdLst>
              <a:gd name="textAreaLeft" fmla="*/ 0 w 11155320"/>
              <a:gd name="textAreaRight" fmla="*/ 11155680 w 1115532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 useBgFill="1">
        <p:nvSpPr>
          <p:cNvPr id="99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21280" y="893520"/>
            <a:ext cx="7726320" cy="10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Пример графика параболы в 2д и 3д</a:t>
            </a:r>
            <a:endParaRPr b="0" lang="ru-RU" sz="3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01" name="Freeform: 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11152800" cy="149040"/>
          </a:xfrm>
          <a:custGeom>
            <a:avLst/>
            <a:gdLst>
              <a:gd name="textAreaLeft" fmla="*/ 0 w 11152800"/>
              <a:gd name="textAreaRight" fmla="*/ 11153160 w 11152800"/>
              <a:gd name="textAreaTop" fmla="*/ 0 h 149040"/>
              <a:gd name="textAreaBottom" fmla="*/ 149400 h 149040"/>
              <a:gd name="GluePoint1X" fmla="*/ 0 w 8085002"/>
              <a:gd name="GluePoint1Y" fmla="*/ 0 h 149279"/>
              <a:gd name="GluePoint2X" fmla="*/ 8085002 w 8085002"/>
              <a:gd name="GluePoint2Y" fmla="*/ 0 h 149279"/>
              <a:gd name="GluePoint3X" fmla="*/ 8085002 w 8085002"/>
              <a:gd name="GluePoint3Y" fmla="*/ 149279 h 149279"/>
              <a:gd name="GluePoint4X" fmla="*/ 0 w 8085002"/>
              <a:gd name="GluePoint4Y" fmla="*/ 149279 h 1492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pic>
        <p:nvPicPr>
          <p:cNvPr id="102" name="Рисунок 5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317880" y="1947600"/>
            <a:ext cx="5764680" cy="309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/>
        </p:blipFill>
        <p:spPr>
          <a:xfrm>
            <a:off x="5944320" y="1954080"/>
            <a:ext cx="5735880" cy="308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0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873216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873216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ru-RU" sz="4400" strike="noStrike" u="none">
                <a:solidFill>
                  <a:schemeClr val="dk1"/>
                </a:solidFill>
                <a:effectLst/>
                <a:uFillTx/>
                <a:latin typeface="Bierstadt"/>
              </a:rPr>
              <a:t>Вывод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21280" y="2578680"/>
            <a:ext cx="8732160" cy="37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Mathly - это современный интеллектуальный математический инструмент, который объединяет мощные вычислительные возможности и продуманный интерфейс для работы с любыми математическими задачами.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Модульная архитектура проекта делает его полностью масштабируемым: в будущем можно добавлять новые функции, расширять типы вычислений, интегрировать визуализацию и создавать комплексные аналитические инструменты.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Проект демонстрирует потенциал для развития передовых математических систем, открывает возможности для исследований и обучения, а также показывает, как современные технологии могут преобразовать подход к решению сложных задач.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Bierstadt"/>
                <a:ea typeface="Bierstadt"/>
              </a:rPr>
              <a:t>Mathly - это не просто калькулятор, а платформа для расширения математических и аналитических возможностей, способная расти и совершенствоваться вместе с требованиями пользователей.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estaltVTI">
  <a:themeElements>
    <a:clrScheme name="Gestalt">
      <a:dk1>
        <a:srgbClr val="000000"/>
      </a:dk1>
      <a:lt1>
        <a:srgbClr val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 pitchFamily="0" charset="1"/>
        <a:ea typeface=""/>
        <a:cs typeface=""/>
      </a:majorFont>
      <a:minorFont>
        <a:latin typeface="Bierstad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LibreOffice/25.8.2.2$Windows_X86_64 LibreOffice_project/d401f2107ccab8f924a8e2df40f573aab7605b6f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2025-11-13T19:57:59Z</dcterms:created>
  <dc:creator/>
  <dc:description/>
  <dc:language>en-US</dc:language>
  <cp:lastModifiedBy/>
  <dcterms:modified xsi:type="dcterms:W3CDTF">2025-11-14T10:58:22Z</dcterms:modified>
  <cp:revision>75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7</vt:i4>
  </property>
</Properties>
</file>